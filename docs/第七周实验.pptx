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25"/>
  </p:notesMasterIdLst>
  <p:handoutMasterIdLst>
    <p:handoutMasterId r:id="rId26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Cai" initials="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9F5"/>
    <a:srgbClr val="A4A4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1" Type="http://schemas.openxmlformats.org/officeDocument/2006/relationships/tags" Target="tags/tag192.xml"/><Relationship Id="rId30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image" Target="../media/image2.jpeg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4" Type="http://schemas.openxmlformats.org/officeDocument/2006/relationships/tags" Target="../tags/tag171.xml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486847" y="2130501"/>
            <a:ext cx="6185195" cy="898964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486847" y="3406073"/>
            <a:ext cx="6246303" cy="474313"/>
          </a:xfrm>
        </p:spPr>
        <p:txBody>
          <a:bodyPr lIns="90000" tIns="0" rIns="90000" bIns="468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1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grpSp>
        <p:nvGrpSpPr>
          <p:cNvPr id="4" name="组合 3"/>
          <p:cNvGrpSpPr/>
          <p:nvPr userDrawn="1">
            <p:custDataLst>
              <p:tags r:id="rId7"/>
            </p:custDataLst>
          </p:nvPr>
        </p:nvGrpSpPr>
        <p:grpSpPr>
          <a:xfrm>
            <a:off x="-19745" y="0"/>
            <a:ext cx="11817587" cy="6892260"/>
            <a:chOff x="-19745" y="0"/>
            <a:chExt cx="11817586" cy="6892260"/>
          </a:xfrm>
        </p:grpSpPr>
        <p:sp>
          <p:nvSpPr>
            <p:cNvPr id="7" name="任意多边形: 形状 6"/>
            <p:cNvSpPr/>
            <p:nvPr userDrawn="1">
              <p:custDataLst>
                <p:tags r:id="rId8"/>
              </p:custDataLst>
            </p:nvPr>
          </p:nvSpPr>
          <p:spPr>
            <a:xfrm rot="10800000">
              <a:off x="-19745" y="0"/>
              <a:ext cx="2427300" cy="2764457"/>
            </a:xfrm>
            <a:custGeom>
              <a:avLst/>
              <a:gdLst>
                <a:gd name="connsiteX0" fmla="*/ 2427300 w 2427300"/>
                <a:gd name="connsiteY0" fmla="*/ 2764457 h 2764457"/>
                <a:gd name="connsiteX1" fmla="*/ 0 w 2427300"/>
                <a:gd name="connsiteY1" fmla="*/ 2764457 h 2764457"/>
                <a:gd name="connsiteX2" fmla="*/ 1742483 w 2427300"/>
                <a:gd name="connsiteY2" fmla="*/ 0 h 2764457"/>
                <a:gd name="connsiteX3" fmla="*/ 2427300 w 2427300"/>
                <a:gd name="connsiteY3" fmla="*/ 1086466 h 2764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7300" h="2764457">
                  <a:moveTo>
                    <a:pt x="2427300" y="2764457"/>
                  </a:moveTo>
                  <a:lnTo>
                    <a:pt x="0" y="2764457"/>
                  </a:lnTo>
                  <a:lnTo>
                    <a:pt x="1742483" y="0"/>
                  </a:lnTo>
                  <a:lnTo>
                    <a:pt x="2427300" y="108646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任意多边形: 形状 7"/>
            <p:cNvSpPr/>
            <p:nvPr userDrawn="1">
              <p:custDataLst>
                <p:tags r:id="rId9"/>
              </p:custDataLst>
            </p:nvPr>
          </p:nvSpPr>
          <p:spPr>
            <a:xfrm>
              <a:off x="-19744" y="3106180"/>
              <a:ext cx="2880823" cy="3786080"/>
            </a:xfrm>
            <a:custGeom>
              <a:avLst/>
              <a:gdLst>
                <a:gd name="connsiteX0" fmla="*/ 684897 w 2880823"/>
                <a:gd name="connsiteY0" fmla="*/ 0 h 3786080"/>
                <a:gd name="connsiteX1" fmla="*/ 2880823 w 2880823"/>
                <a:gd name="connsiteY1" fmla="*/ 3786080 h 3786080"/>
                <a:gd name="connsiteX2" fmla="*/ 0 w 2880823"/>
                <a:gd name="connsiteY2" fmla="*/ 3786080 h 3786080"/>
                <a:gd name="connsiteX3" fmla="*/ 0 w 2880823"/>
                <a:gd name="connsiteY3" fmla="*/ 1180857 h 3786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0823" h="3786080">
                  <a:moveTo>
                    <a:pt x="684897" y="0"/>
                  </a:moveTo>
                  <a:lnTo>
                    <a:pt x="2880823" y="3786080"/>
                  </a:lnTo>
                  <a:lnTo>
                    <a:pt x="0" y="3786080"/>
                  </a:lnTo>
                  <a:lnTo>
                    <a:pt x="0" y="11808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任意多边形: 形状 8"/>
            <p:cNvSpPr/>
            <p:nvPr userDrawn="1">
              <p:custDataLst>
                <p:tags r:id="rId10"/>
              </p:custDataLst>
            </p:nvPr>
          </p:nvSpPr>
          <p:spPr>
            <a:xfrm rot="5400000">
              <a:off x="-712814" y="2685879"/>
              <a:ext cx="1978851" cy="592710"/>
            </a:xfrm>
            <a:custGeom>
              <a:avLst/>
              <a:gdLst>
                <a:gd name="connsiteX0" fmla="*/ 0 w 1978851"/>
                <a:gd name="connsiteY0" fmla="*/ 592710 h 592710"/>
                <a:gd name="connsiteX1" fmla="*/ 989425 w 1978851"/>
                <a:gd name="connsiteY1" fmla="*/ 0 h 592710"/>
                <a:gd name="connsiteX2" fmla="*/ 1978851 w 1978851"/>
                <a:gd name="connsiteY2" fmla="*/ 592710 h 592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78851" h="592710">
                  <a:moveTo>
                    <a:pt x="0" y="592710"/>
                  </a:moveTo>
                  <a:lnTo>
                    <a:pt x="989425" y="0"/>
                  </a:lnTo>
                  <a:lnTo>
                    <a:pt x="1978851" y="5927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11"/>
            <p:cNvSpPr/>
            <p:nvPr userDrawn="1">
              <p:custDataLst>
                <p:tags r:id="rId11"/>
              </p:custDataLst>
            </p:nvPr>
          </p:nvSpPr>
          <p:spPr>
            <a:xfrm>
              <a:off x="2861079" y="5298431"/>
              <a:ext cx="1848842" cy="159382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13"/>
            <p:cNvSpPr/>
            <p:nvPr userDrawn="1">
              <p:custDataLst>
                <p:tags r:id="rId12"/>
              </p:custDataLst>
            </p:nvPr>
          </p:nvSpPr>
          <p:spPr>
            <a:xfrm rot="3600000">
              <a:off x="1132840" y="1963551"/>
              <a:ext cx="3794133" cy="3270803"/>
            </a:xfrm>
            <a:prstGeom prst="triangle">
              <a:avLst/>
            </a:prstGeom>
            <a:blipFill dpi="0" rotWithShape="0">
              <a:blip r:embed="rId13"/>
              <a:srcRect/>
              <a:stretch>
                <a:fillRect t="1000" b="-2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12" name="组合 11"/>
            <p:cNvGrpSpPr/>
            <p:nvPr userDrawn="1">
              <p:custDataLst>
                <p:tags r:id="rId14"/>
              </p:custDataLst>
            </p:nvPr>
          </p:nvGrpSpPr>
          <p:grpSpPr>
            <a:xfrm>
              <a:off x="11668459" y="549424"/>
              <a:ext cx="129382" cy="473109"/>
              <a:chOff x="11537206" y="483307"/>
              <a:chExt cx="201523" cy="736906"/>
            </a:xfrm>
            <a:solidFill>
              <a:schemeClr val="accent1"/>
            </a:solidFill>
          </p:grpSpPr>
          <p:sp>
            <p:nvSpPr>
              <p:cNvPr id="13" name="椭圆 12"/>
              <p:cNvSpPr/>
              <p:nvPr>
                <p:custDataLst>
                  <p:tags r:id="rId15"/>
                </p:custDataLst>
              </p:nvPr>
            </p:nvSpPr>
            <p:spPr>
              <a:xfrm>
                <a:off x="11537206" y="483307"/>
                <a:ext cx="195943" cy="1959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4" name="椭圆 13"/>
              <p:cNvSpPr/>
              <p:nvPr>
                <p:custDataLst>
                  <p:tags r:id="rId16"/>
                </p:custDataLst>
              </p:nvPr>
            </p:nvSpPr>
            <p:spPr>
              <a:xfrm>
                <a:off x="11537207" y="744908"/>
                <a:ext cx="195943" cy="1959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5" name="椭圆 14"/>
              <p:cNvSpPr/>
              <p:nvPr>
                <p:custDataLst>
                  <p:tags r:id="rId17"/>
                </p:custDataLst>
              </p:nvPr>
            </p:nvSpPr>
            <p:spPr>
              <a:xfrm>
                <a:off x="11542786" y="1024270"/>
                <a:ext cx="195943" cy="1959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sp>
          <p:nvSpPr>
            <p:cNvPr id="19" name="圆角矩形 20"/>
            <p:cNvSpPr/>
            <p:nvPr userDrawn="1">
              <p:custDataLst>
                <p:tags r:id="rId18"/>
              </p:custDataLst>
            </p:nvPr>
          </p:nvSpPr>
          <p:spPr>
            <a:xfrm>
              <a:off x="5633482" y="3158748"/>
              <a:ext cx="1163781" cy="7482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三角形 12"/>
            <p:cNvSpPr/>
            <p:nvPr userDrawn="1">
              <p:custDataLst>
                <p:tags r:id="rId19"/>
              </p:custDataLst>
            </p:nvPr>
          </p:nvSpPr>
          <p:spPr>
            <a:xfrm rot="3600000">
              <a:off x="1574330" y="1748429"/>
              <a:ext cx="3794133" cy="327080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9876791" y="5137309"/>
            <a:ext cx="1864995" cy="404813"/>
          </a:xfrm>
        </p:spPr>
        <p:txBody>
          <a:bodyPr lIns="90000" tIns="46800" rIns="90000" bIns="0" anchor="b" anchorCtr="0"/>
          <a:lstStyle>
            <a:lvl1pPr marL="0" indent="0"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9876791" y="5717064"/>
            <a:ext cx="1864995" cy="404813"/>
          </a:xfrm>
        </p:spPr>
        <p:txBody>
          <a:bodyPr lIns="90000" tIns="0" rIns="90000" bIns="46800" anchor="t" anchorCtr="0"/>
          <a:lstStyle>
            <a:lvl1pPr marL="0" indent="0"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60000" y="360000"/>
            <a:ext cx="11520000" cy="720000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360000" y="1260000"/>
            <a:ext cx="11520000" cy="504000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360000" y="6480000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6000" y="6480000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280000" y="6480000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528157" y="0"/>
            <a:ext cx="11663843" cy="6892260"/>
            <a:chOff x="528157" y="0"/>
            <a:chExt cx="11663843" cy="6892260"/>
          </a:xfrm>
        </p:grpSpPr>
        <p:sp>
          <p:nvSpPr>
            <p:cNvPr id="7" name="三角形 6"/>
            <p:cNvSpPr/>
            <p:nvPr userDrawn="1">
              <p:custDataLst>
                <p:tags r:id="rId3"/>
              </p:custDataLst>
            </p:nvPr>
          </p:nvSpPr>
          <p:spPr>
            <a:xfrm rot="10800000">
              <a:off x="528157" y="0"/>
              <a:ext cx="2080887" cy="1650670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三角形 7"/>
            <p:cNvSpPr/>
            <p:nvPr userDrawn="1">
              <p:custDataLst>
                <p:tags r:id="rId4"/>
              </p:custDataLst>
            </p:nvPr>
          </p:nvSpPr>
          <p:spPr>
            <a:xfrm>
              <a:off x="9227714" y="5093898"/>
              <a:ext cx="2086099" cy="179836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8"/>
            <p:cNvSpPr/>
            <p:nvPr userDrawn="1">
              <p:custDataLst>
                <p:tags r:id="rId5"/>
              </p:custDataLst>
            </p:nvPr>
          </p:nvSpPr>
          <p:spPr>
            <a:xfrm>
              <a:off x="11313813" y="6135202"/>
              <a:ext cx="878187" cy="757058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9"/>
            <p:cNvSpPr/>
            <p:nvPr userDrawn="1">
              <p:custDataLst>
                <p:tags r:id="rId6"/>
              </p:custDataLst>
            </p:nvPr>
          </p:nvSpPr>
          <p:spPr>
            <a:xfrm>
              <a:off x="2133732" y="1992725"/>
              <a:ext cx="2699999" cy="232758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4992979" y="3109836"/>
            <a:ext cx="4846987" cy="584007"/>
          </a:xfrm>
        </p:spPr>
        <p:txBody>
          <a:bodyPr lIns="90000" tIns="46800" rIns="90000" bIns="0" anchor="b" anchorCtr="0">
            <a:normAutofit/>
          </a:bodyPr>
          <a:lstStyle>
            <a:lvl1pPr>
              <a:defRPr sz="27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4992979" y="3949176"/>
            <a:ext cx="4846987" cy="584007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35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7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238877" y="1626121"/>
            <a:ext cx="5283243" cy="404168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1" name="任意多边形: 形状 10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3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9"/>
            </p:custDataLst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0"/>
            </p:custDataLst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1" y="498476"/>
            <a:ext cx="10852237" cy="331473"/>
          </a:xfrm>
        </p:spPr>
        <p:txBody>
          <a:bodyPr lIns="90000" tIns="46800" rIns="90000" bIns="46800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7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8"/>
            </p:custDataLst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6"/>
            </p:custDataLst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7"/>
            </p:custDataLst>
          </p:nvPr>
        </p:nvSpPr>
        <p:spPr>
          <a:xfrm>
            <a:off x="669925" y="1626113"/>
            <a:ext cx="9828101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10638975" y="5416759"/>
            <a:ext cx="1553024" cy="1432837"/>
            <a:chOff x="10898426" y="5656127"/>
            <a:chExt cx="1293583" cy="1193474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10898426" y="6156793"/>
              <a:ext cx="678847" cy="69280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20" y="5656127"/>
              <a:ext cx="771189" cy="1193474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3028067" y="0"/>
            <a:ext cx="6276189" cy="6858000"/>
            <a:chOff x="3028067" y="0"/>
            <a:chExt cx="6276189" cy="6858000"/>
          </a:xfrm>
        </p:grpSpPr>
        <p:sp>
          <p:nvSpPr>
            <p:cNvPr id="6" name="三角形 3"/>
            <p:cNvSpPr/>
            <p:nvPr userDrawn="1">
              <p:custDataLst>
                <p:tags r:id="rId3"/>
              </p:custDataLst>
            </p:nvPr>
          </p:nvSpPr>
          <p:spPr>
            <a:xfrm rot="10800000">
              <a:off x="5055555" y="0"/>
              <a:ext cx="2080887" cy="165067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任意多边形: 形状 6"/>
            <p:cNvSpPr/>
            <p:nvPr userDrawn="1">
              <p:custDataLst>
                <p:tags r:id="rId4"/>
              </p:custDataLst>
            </p:nvPr>
          </p:nvSpPr>
          <p:spPr>
            <a:xfrm>
              <a:off x="5676777" y="6135202"/>
              <a:ext cx="838445" cy="722798"/>
            </a:xfrm>
            <a:custGeom>
              <a:avLst/>
              <a:gdLst>
                <a:gd name="connsiteX0" fmla="*/ 419223 w 838445"/>
                <a:gd name="connsiteY0" fmla="*/ 0 h 722798"/>
                <a:gd name="connsiteX1" fmla="*/ 838445 w 838445"/>
                <a:gd name="connsiteY1" fmla="*/ 722798 h 722798"/>
                <a:gd name="connsiteX2" fmla="*/ 0 w 838445"/>
                <a:gd name="connsiteY2" fmla="*/ 722798 h 722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8445" h="722798">
                  <a:moveTo>
                    <a:pt x="419223" y="0"/>
                  </a:moveTo>
                  <a:lnTo>
                    <a:pt x="838445" y="722798"/>
                  </a:lnTo>
                  <a:lnTo>
                    <a:pt x="0" y="7227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三角形 5"/>
            <p:cNvSpPr/>
            <p:nvPr userDrawn="1">
              <p:custDataLst>
                <p:tags r:id="rId5"/>
              </p:custDataLst>
            </p:nvPr>
          </p:nvSpPr>
          <p:spPr>
            <a:xfrm>
              <a:off x="3028067" y="2477828"/>
              <a:ext cx="392165" cy="33807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6"/>
            <p:cNvSpPr/>
            <p:nvPr userDrawn="1">
              <p:custDataLst>
                <p:tags r:id="rId6"/>
              </p:custDataLst>
            </p:nvPr>
          </p:nvSpPr>
          <p:spPr>
            <a:xfrm rot="2748548">
              <a:off x="8939137" y="3459125"/>
              <a:ext cx="392165" cy="33807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3420232" y="2917321"/>
            <a:ext cx="5352795" cy="900247"/>
          </a:xfrm>
        </p:spPr>
        <p:txBody>
          <a:bodyPr vert="horz" lIns="90000" tIns="46800" rIns="9000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95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3419475" y="4115997"/>
            <a:ext cx="5457825" cy="541734"/>
          </a:xfrm>
        </p:spPr>
        <p:txBody>
          <a:bodyPr lIns="91440" tIns="0" rIns="91440" bIns="45720"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spc="300" baseline="0"/>
            </a:lvl1pPr>
          </a:lstStyle>
          <a:p>
            <a:pPr lvl="0"/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3" name="任意多边形: 形状 12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1" y="498476"/>
            <a:ext cx="10852237" cy="331473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1" cy="62496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 baseline="0">
              <a:solidFill>
                <a:schemeClr val="tx1">
                  <a:lumMod val="85000"/>
                  <a:lumOff val="1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三角形 6"/>
          <p:cNvSpPr/>
          <p:nvPr userDrawn="1">
            <p:custDataLst>
              <p:tags r:id="rId3"/>
            </p:custDataLst>
          </p:nvPr>
        </p:nvSpPr>
        <p:spPr>
          <a:xfrm rot="10800000">
            <a:off x="240665" y="0"/>
            <a:ext cx="1268731" cy="82550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三角形 7"/>
          <p:cNvSpPr/>
          <p:nvPr userDrawn="1">
            <p:custDataLst>
              <p:tags r:id="rId4"/>
            </p:custDataLst>
          </p:nvPr>
        </p:nvSpPr>
        <p:spPr>
          <a:xfrm>
            <a:off x="10157460" y="5823585"/>
            <a:ext cx="1449071" cy="102997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三角形 8"/>
          <p:cNvSpPr/>
          <p:nvPr userDrawn="1">
            <p:custDataLst>
              <p:tags r:id="rId5"/>
            </p:custDataLst>
          </p:nvPr>
        </p:nvSpPr>
        <p:spPr>
          <a:xfrm>
            <a:off x="11200765" y="6153150"/>
            <a:ext cx="991235" cy="70485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kumimoji="1" lang="zh-CN" alt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>
          <a:xfrm>
            <a:off x="1281600" y="1339650"/>
            <a:ext cx="9626400" cy="542700"/>
          </a:xfrm>
        </p:spPr>
        <p:txBody>
          <a:bodyPr anchor="ctr">
            <a:normAutofit/>
          </a:bodyPr>
          <a:lstStyle>
            <a:lvl1pPr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 hasCustomPrompt="1"/>
            <p:custDataLst>
              <p:tags r:id="rId7"/>
            </p:custDataLst>
          </p:nvPr>
        </p:nvSpPr>
        <p:spPr>
          <a:xfrm>
            <a:off x="1281113" y="2594250"/>
            <a:ext cx="9626600" cy="25839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4" name="组合 13"/>
          <p:cNvGrpSpPr/>
          <p:nvPr userDrawn="1">
            <p:custDataLst>
              <p:tags r:id="rId3"/>
            </p:custDataLst>
          </p:nvPr>
        </p:nvGrpSpPr>
        <p:grpSpPr>
          <a:xfrm>
            <a:off x="-1" y="5207000"/>
            <a:ext cx="1807912" cy="1667994"/>
            <a:chOff x="-1" y="5000255"/>
            <a:chExt cx="2032000" cy="1874739"/>
          </a:xfrm>
        </p:grpSpPr>
        <p:sp>
          <p:nvSpPr>
            <p:cNvPr id="15" name="任意多边形: 形状 14"/>
            <p:cNvSpPr/>
            <p:nvPr>
              <p:custDataLst>
                <p:tags r:id="rId4"/>
              </p:custDataLst>
            </p:nvPr>
          </p:nvSpPr>
          <p:spPr>
            <a:xfrm flipH="1">
              <a:off x="965649" y="5786718"/>
              <a:ext cx="1066350" cy="108827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三角形 7"/>
            <p:cNvSpPr/>
            <p:nvPr>
              <p:custDataLst>
                <p:tags r:id="rId5"/>
              </p:custDataLst>
            </p:nvPr>
          </p:nvSpPr>
          <p:spPr>
            <a:xfrm flipH="1">
              <a:off x="-1" y="5000255"/>
              <a:ext cx="1211405" cy="1874739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8"/>
            <p:cNvSpPr/>
            <p:nvPr>
              <p:custDataLst>
                <p:tags r:id="rId6"/>
              </p:custDataLst>
            </p:nvPr>
          </p:nvSpPr>
          <p:spPr>
            <a:xfrm rot="10800000" flipH="1">
              <a:off x="594749" y="5786311"/>
              <a:ext cx="636641" cy="472228"/>
            </a:xfrm>
            <a:prstGeom prst="triangle">
              <a:avLst/>
            </a:prstGeom>
            <a:solidFill>
              <a:schemeClr val="accent3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7"/>
            </p:custDataLst>
          </p:nvPr>
        </p:nvSpPr>
        <p:spPr>
          <a:xfrm>
            <a:off x="583200" y="880650"/>
            <a:ext cx="3960000" cy="661500"/>
          </a:xfrm>
        </p:spPr>
        <p:txBody>
          <a:bodyPr anchor="ctr">
            <a:normAutofit/>
          </a:bodyPr>
          <a:lstStyle>
            <a:lvl1pPr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586800" y="2275650"/>
            <a:ext cx="3956400" cy="3069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5101200" y="1405930"/>
            <a:ext cx="6480000" cy="3815953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 flipH="1">
            <a:off x="10638971" y="0"/>
            <a:ext cx="1553029" cy="1432837"/>
            <a:chOff x="10898414" y="5656121"/>
            <a:chExt cx="1293586" cy="1193473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7"/>
            <p:cNvSpPr/>
            <p:nvPr>
              <p:custDataLst>
                <p:tags r:id="rId5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三角形 8"/>
            <p:cNvSpPr/>
            <p:nvPr>
              <p:custDataLst>
                <p:tags r:id="rId6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12000" y="859500"/>
            <a:ext cx="10976400" cy="469800"/>
          </a:xfrm>
        </p:spPr>
        <p:txBody>
          <a:bodyPr anchor="ctr"/>
          <a:lstStyle>
            <a:lvl1pPr algn="ctr">
              <a:defRPr sz="27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612000" y="1763100"/>
            <a:ext cx="10975975" cy="621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612775" y="3236850"/>
            <a:ext cx="10965600" cy="25731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>
            <p:custDataLst>
              <p:tags r:id="rId2"/>
            </p:custDataLst>
          </p:nvPr>
        </p:nvGrpSpPr>
        <p:grpSpPr>
          <a:xfrm rot="10800000" flipH="1">
            <a:off x="10638971" y="0"/>
            <a:ext cx="1553029" cy="1432837"/>
            <a:chOff x="10898414" y="5656121"/>
            <a:chExt cx="1293586" cy="1193473"/>
          </a:xfrm>
        </p:grpSpPr>
        <p:sp>
          <p:nvSpPr>
            <p:cNvPr id="16" name="任意多边形: 形状 15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6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04800" y="740250"/>
            <a:ext cx="10976400" cy="423900"/>
          </a:xfrm>
        </p:spPr>
        <p:txBody>
          <a:bodyPr lIns="90000" tIns="46800" rIns="90000" bIns="46800" anchor="ctr">
            <a:normAutofit/>
          </a:bodyPr>
          <a:lstStyle>
            <a:lvl1pPr algn="ctr">
              <a:lnSpc>
                <a:spcPct val="100000"/>
              </a:lnSpc>
              <a:defRPr sz="24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1"/>
            </p:custDataLst>
          </p:nvPr>
        </p:nvSpPr>
        <p:spPr>
          <a:xfrm>
            <a:off x="604837" y="2082600"/>
            <a:ext cx="10990800" cy="2408400"/>
          </a:xfrm>
        </p:spPr>
        <p:txBody>
          <a:bodyPr lIns="90000" tIns="46800" rIns="90000" bIns="46800"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2"/>
            </p:custDataLst>
          </p:nvPr>
        </p:nvSpPr>
        <p:spPr>
          <a:xfrm>
            <a:off x="594000" y="5306850"/>
            <a:ext cx="11001600" cy="758700"/>
          </a:xfrm>
        </p:spPr>
        <p:txBody>
          <a:bodyPr lIns="90000" tIns="46800" rIns="90000" bIns="468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79600" y="292846"/>
            <a:ext cx="11037600" cy="33147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242400" y="2025000"/>
            <a:ext cx="5367600" cy="217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572400" y="4914450"/>
            <a:ext cx="5342400" cy="585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6253200" y="4910850"/>
            <a:ext cx="5367600" cy="585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1576668"/>
            <a:ext cx="12192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9" name="组合 18"/>
          <p:cNvGrpSpPr/>
          <p:nvPr userDrawn="1">
            <p:custDataLst>
              <p:tags r:id="rId3"/>
            </p:custDataLst>
          </p:nvPr>
        </p:nvGrpSpPr>
        <p:grpSpPr>
          <a:xfrm>
            <a:off x="0" y="4462145"/>
            <a:ext cx="2067560" cy="2386965"/>
            <a:chOff x="0" y="4462199"/>
            <a:chExt cx="2587015" cy="2386801"/>
          </a:xfrm>
        </p:grpSpPr>
        <p:sp>
          <p:nvSpPr>
            <p:cNvPr id="20" name="任意多边形: 形状 19"/>
            <p:cNvSpPr/>
            <p:nvPr>
              <p:custDataLst>
                <p:tags r:id="rId4"/>
              </p:custDataLst>
            </p:nvPr>
          </p:nvSpPr>
          <p:spPr>
            <a:xfrm flipH="1">
              <a:off x="1229405" y="5463474"/>
              <a:ext cx="1357610" cy="138552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三角形 7"/>
            <p:cNvSpPr/>
            <p:nvPr>
              <p:custDataLst>
                <p:tags r:id="rId5"/>
              </p:custDataLst>
            </p:nvPr>
          </p:nvSpPr>
          <p:spPr>
            <a:xfrm flipH="1">
              <a:off x="0" y="4462199"/>
              <a:ext cx="1542284" cy="238680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三角形 8"/>
            <p:cNvSpPr/>
            <p:nvPr>
              <p:custDataLst>
                <p:tags r:id="rId6"/>
              </p:custDataLst>
            </p:nvPr>
          </p:nvSpPr>
          <p:spPr>
            <a:xfrm rot="10800000" flipH="1">
              <a:off x="757198" y="5462956"/>
              <a:ext cx="810531" cy="601211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7"/>
            </p:custDataLst>
          </p:nvPr>
        </p:nvGrpSpPr>
        <p:grpSpPr>
          <a:xfrm rot="10800000">
            <a:off x="10121900" y="0"/>
            <a:ext cx="2067560" cy="2386965"/>
            <a:chOff x="0" y="4462199"/>
            <a:chExt cx="2587015" cy="2386801"/>
          </a:xfrm>
        </p:grpSpPr>
        <p:sp>
          <p:nvSpPr>
            <p:cNvPr id="24" name="任意多边形: 形状 23"/>
            <p:cNvSpPr/>
            <p:nvPr>
              <p:custDataLst>
                <p:tags r:id="rId8"/>
              </p:custDataLst>
            </p:nvPr>
          </p:nvSpPr>
          <p:spPr>
            <a:xfrm flipH="1">
              <a:off x="1229405" y="5463474"/>
              <a:ext cx="1357610" cy="138552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三角形 7"/>
            <p:cNvSpPr/>
            <p:nvPr>
              <p:custDataLst>
                <p:tags r:id="rId9"/>
              </p:custDataLst>
            </p:nvPr>
          </p:nvSpPr>
          <p:spPr>
            <a:xfrm flipH="1">
              <a:off x="0" y="4462199"/>
              <a:ext cx="1542284" cy="238680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三角形 8"/>
            <p:cNvSpPr/>
            <p:nvPr>
              <p:custDataLst>
                <p:tags r:id="rId10"/>
              </p:custDataLst>
            </p:nvPr>
          </p:nvSpPr>
          <p:spPr>
            <a:xfrm rot="10800000" flipH="1">
              <a:off x="757198" y="5462956"/>
              <a:ext cx="810531" cy="601211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1522800" y="1637550"/>
            <a:ext cx="9144000" cy="17901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4500" b="1" strike="noStrike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5"/>
            </p:custDataLst>
          </p:nvPr>
        </p:nvSpPr>
        <p:spPr>
          <a:xfrm>
            <a:off x="1522413" y="4069800"/>
            <a:ext cx="9144000" cy="12420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117600" y="6356351"/>
            <a:ext cx="36576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84800" y="6356351"/>
            <a:ext cx="54864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80800" y="6356351"/>
            <a:ext cx="36576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8708" y="98448"/>
            <a:ext cx="10348383" cy="75723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67833" y="1081089"/>
            <a:ext cx="11142133" cy="505618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8" Type="http://schemas.openxmlformats.org/officeDocument/2006/relationships/theme" Target="../theme/theme2.xml"/><Relationship Id="rId27" Type="http://schemas.openxmlformats.org/officeDocument/2006/relationships/tags" Target="../tags/tag191.xml"/><Relationship Id="rId26" Type="http://schemas.openxmlformats.org/officeDocument/2006/relationships/tags" Target="../tags/tag190.xml"/><Relationship Id="rId25" Type="http://schemas.openxmlformats.org/officeDocument/2006/relationships/tags" Target="../tags/tag189.xml"/><Relationship Id="rId24" Type="http://schemas.openxmlformats.org/officeDocument/2006/relationships/tags" Target="../tags/tag188.xml"/><Relationship Id="rId23" Type="http://schemas.openxmlformats.org/officeDocument/2006/relationships/tags" Target="../tags/tag187.xml"/><Relationship Id="rId22" Type="http://schemas.openxmlformats.org/officeDocument/2006/relationships/tags" Target="../tags/tag186.xml"/><Relationship Id="rId21" Type="http://schemas.openxmlformats.org/officeDocument/2006/relationships/image" Target="../media/image1.png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>
            <a:alphaModFix amt="1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0040" y="219075"/>
            <a:ext cx="11821160" cy="691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9405" y="1100455"/>
            <a:ext cx="11821795" cy="5259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9405" y="643318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217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91015" y="64217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75945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5189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1">
            <a:alphaModFix amt="1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69883" y="1189673"/>
            <a:ext cx="10852237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69883" y="1571631"/>
            <a:ext cx="10852237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879743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5"/>
            </p:custDataLst>
          </p:nvPr>
        </p:nvSpPr>
        <p:spPr>
          <a:xfrm>
            <a:off x="4116000" y="5619625"/>
            <a:ext cx="396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6"/>
            </p:custDataLst>
          </p:nvPr>
        </p:nvSpPr>
        <p:spPr>
          <a:xfrm>
            <a:off x="8610600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7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2103120"/>
            <a:ext cx="6185001" cy="1051560"/>
          </a:xfrm>
        </p:spPr>
        <p:txBody>
          <a:bodyPr wrap="none"/>
          <a:lstStyle/>
          <a:p>
            <a:r>
              <a:rPr sz="54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Web编程</a:t>
            </a:r>
            <a:endParaRPr sz="54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3246120"/>
            <a:ext cx="6246266" cy="1371600"/>
          </a:xfrm>
        </p:spPr>
        <p:txBody>
          <a:bodyPr wrap="none"/>
          <a:lstStyle/>
          <a:p>
            <a:r>
              <a:rPr sz="2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第7周 · 实验课</a:t>
            </a:r>
            <a:endParaRPr sz="2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2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V2.0 数据驱动重构 + 持久化</a:t>
            </a:r>
            <a:endParaRPr sz="22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AI增强型工程实践</a:t>
            </a:r>
            <a:endParaRPr sz="2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none"/>
          <a:lstStyle/>
          <a:p>
            <a:pPr algn="r"/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蔡树彬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 wrap="none"/>
          <a:lstStyle/>
          <a:p>
            <a:pPr algn="r"/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2026.10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今天实验课：做什么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123444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V2.0 从「能跑的 Todo 列表」升级为</a:t>
            </a:r>
            <a:endParaRPr sz="22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「数据驱动、可持久化、可追溯」的工程产物</a:t>
            </a:r>
            <a:endParaRPr sz="22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905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数据驱动</a:t>
            </a:r>
            <a:endParaRPr sz="22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DOM 是 todos 数组的投影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不再手动维护 DOM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389120" y="292608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905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可持久化</a:t>
            </a:r>
            <a:endParaRPr sz="22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刷新之后数据仍在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（localStorage）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46720" y="292608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905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可追溯</a:t>
            </a:r>
            <a:endParaRPr sz="22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分支开发 + 提交记录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改动有据可查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11292840" cy="64008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今天的核心不是「能不能跑」，而是「跑的方式对不对」—— 三个操作走同一条路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开始重构之前：先建好分支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22960" y="1691640"/>
            <a:ext cx="6858000" cy="301752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① 查看当前在哪个分支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branch --show-current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② 创建并切换到功能分支（分支不存在时）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switch -c feature/v2-data-driven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②③ 二选一：不存在用 ②，已存在用 ③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③ 分支已存在，直接切过去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switch feature/v2-data-driven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685800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三条命令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55279" y="1783080"/>
            <a:ext cx="3520440" cy="4892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为什么现在就建？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写完再建，隔离就晚了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改坏了可随时回退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分支名建议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feature/v2-data-driven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4892040"/>
            <a:ext cx="11292840" cy="73152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⚠ 不要等写完代码再建分支 —— 分支的作用是「隔离」，不是「归档」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5806440"/>
            <a:ext cx="10515600" cy="82296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课后完成freecodecamp上的todo app，后续用于实验报告（类似之前）</a:t>
            </a:r>
            <a:endParaRPr sz="1800" b="0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3A9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https://www.freecodecamp.org/learn/javascript-v9/workshop-todo-app/step-1</a:t>
            </a:r>
            <a:endParaRPr sz="1800" b="0">
              <a:solidFill>
                <a:srgbClr val="3A9A7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对比：第6周做法 → 本周做法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08760"/>
          <a:ext cx="10881359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59"/>
                <a:gridCol w="4754880"/>
                <a:gridCol w="4846320"/>
              </a:tblGrid>
              <a:tr h="6766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第6周做法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本周做法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状态在哪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 DOM 里（每个 li 就是一条数据）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在一个 todos 数组里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添加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createElement + appendChild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[...todos, 新任务] → save() → render()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删除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找到那个 li 删掉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todos.filter(...) → save() → render()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页面更新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手动改对应的那块 DOM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整个列表重画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937760"/>
            <a:ext cx="5532120" cy="178308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W6：点一次、改一次 DOM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li = document.createElement('li');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li.textContent = text;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list.appendChild(li);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72200" y="4937760"/>
            <a:ext cx="5532120" cy="178308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W7：改数据 → 保存 → 重渲染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todo = { id: Date.now(),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text, completed: false };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todos = [...todos, todo];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save();  render();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本周核心内容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3383280" cy="1874519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905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改数据</a:t>
            </a:r>
            <a:endParaRPr sz="24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用「生成新数组」的方式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得到新的 todos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169663" y="2363724"/>
            <a:ext cx="182880" cy="164592"/>
          </a:xfrm>
          <a:prstGeom prst="rightArrow">
            <a:avLst>
              <a:gd name="adj1" fmla="val 3000"/>
              <a:gd name="adj2" fmla="val 50000"/>
            </a:avLst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0" y="1508760"/>
            <a:ext cx="3383280" cy="1874519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905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保存</a:t>
            </a:r>
            <a:endParaRPr sz="24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save() 把新 todos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 localStorage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7827264" y="2363724"/>
            <a:ext cx="182880" cy="164592"/>
          </a:xfrm>
          <a:prstGeom prst="rightArrow">
            <a:avLst>
              <a:gd name="adj1" fmla="val 3000"/>
              <a:gd name="adj2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0" y="1508760"/>
            <a:ext cx="3383280" cy="1874519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905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重渲染</a:t>
            </a:r>
            <a:endParaRPr sz="24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render() 根据新 todos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重画整个列表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10698480" cy="105156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状态要有唯一的家：先改数据，再让渲染函数更新页面。</a:t>
            </a:r>
            <a:endParaRPr sz="24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241280" cy="173735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三个操作（添加 / 删除 / 切换）全部走这三步 —— 不走捷径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卡住时就问自己：数据改了吗？保存了吗？重渲染了吗？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6144768"/>
            <a:ext cx="11292840" cy="50292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本周把这几个环节走完，“状态有家”才真正落地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三项交付物与验收标准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8321040"/>
              </a:tblGrid>
              <a:tr h="8001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交付物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验收标准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签到版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 点前</a:t>
                      </a:r>
                      <a:r>
                        <a:rPr lang="zh-CN"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有提交</a:t>
                      </a: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AI 日志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完成版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个操作能跑通 + 持久化 + 筛选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提交内容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更新的 AI 日志：含可公开访问的 Git 仓库链接（有分支、合并、提交记录）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983480"/>
            <a:ext cx="10698480" cy="141732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 Git 仓库（Github 等等）都可选，只要求提交在 AI 日志中的链接能公开访问（并且是你的）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reduce示例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10515600" cy="182880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累加器：把数组「收」成一个值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done = todos.reduce(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(n, t) =&gt; n + (t.completed ? 1 : 0), 0);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241280" cy="1645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第二个参数是初始值 —— 数组为空也能正常返回（返回 0）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不给初始值：空数组调用会直接报错</a:t>
            </a:r>
            <a:endParaRPr sz="20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reduce 不是本周核心 —— 能看懂、使用即可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代码骨架：① - ⑤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10881360" cy="420624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KEY = 'todos';                    // ① 存储的键名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list   = document.querySelector('#todo-list');   // ② DOM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input  = document.querySelector('#todo-input');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addBtn = document.querySelector('#add-btn');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let todos  = load();                    // ③ 单一数据源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let filter = 'all';                     // ④ 视图状态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save() {                       // ⑤ 存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localStorage.setItem(KEY, JSON.stringify(todos));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load() {                       // ⑤ 取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const raw = localStorage.getItem(KEY);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(raw === null) return [];        // 没存过 → 空数组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JSON.parse(raw);             // 存过 → 解析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6080760"/>
            <a:ext cx="11292840" cy="566928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load() 是简化版：假定数据是有效 JSON 且为数组（真实工程还要处理异常）</a:t>
            </a:r>
            <a:endParaRPr sz="18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代码骨架：⑥ render() 上 —— 过滤 → 建元素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7635240" cy="352044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render()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list.innerHTML = '';               // 清空 → 重画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const shown = todos.filter(t =&gt;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filter === 'all'  ? true :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filter === 'done' ? t.completed : !t.completed);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shown.forEach(t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const li = document.createElement('li');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li.textContent = t.text;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li.dataset.id = t.id;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if (t.completed) li.classList.add('done');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// …… 事件绑定与挂载 → 见下页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0" y="1737360"/>
            <a:ext cx="3154680" cy="4937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先过滤，再渲染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决定「显示哪些」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不改 todos 本身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 记住自己的 id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li.dataset.id = t.id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后续靠它定位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5532120"/>
            <a:ext cx="11292840" cy="64008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每次修改数据后都整表重画 —— 这就是「DOM 是数据的投影」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代码骨架：⑥ render() 下 —— 事件绑定 → 挂载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7635240" cy="393192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li.addEventListener('click',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() =&gt; toggleTodo(t.id));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const delBtn = document.createElement('button');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delBtn.textContent = '×';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delBtn.addEventListener('click', (e)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e.stopPropagation();   // 防止顺带触发 li 的点击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removeTodo(t.id);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li.appendChild(delBtn);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list.appendChild(li);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0" y="1737360"/>
            <a:ext cx="3154680" cy="4937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用箭头函数捕获 t.id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不要用 var i 记下标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（闭包共享变量陷阱）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e.stopPropagation()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防止点删除时顺带切换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5669280"/>
            <a:ext cx="11064240" cy="109728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60720"/>
            <a:ext cx="10607040" cy="960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为什么每次 render 都重新绑一次监听？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 是每次新建的 —— 旧元素连同旧监听一起丢弃，不会重复绑定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动手前：记住三个要点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196596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905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单一数据源  (③)</a:t>
            </a:r>
            <a:endParaRPr sz="22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todos 是唯一的任务状态来源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DOM 由 render() 生成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383280" cy="196596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905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三步口诀  (⑦)</a:t>
            </a:r>
            <a:endParaRPr sz="22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改数据 → 保存 → 重渲染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写在三个操作函数内部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383280" cy="196596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905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不可变更新  (⑦)</a:t>
            </a:r>
            <a:endParaRPr sz="22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三个操作都不改原数组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添加/删除/切换各有一种写法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1069848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13632"/>
            <a:ext cx="1033272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关于不可变更新：这是本周的工程约束，不是 JS 的语法要求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统一规则让「每次修改都产生一个新数组」成为习惯，状态变化更容易看清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5440680"/>
            <a:ext cx="11292840" cy="64008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关于 ID：本周用 Date.now() 简化 —— 项目常用 crypto.randomUUID() 或数据库自增 id</a:t>
            </a:r>
            <a:endParaRPr sz="18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统一原则：不改原数组，生成新数组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59" cy="2651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59"/>
                <a:gridCol w="3291840"/>
                <a:gridCol w="6309360"/>
              </a:tblGrid>
              <a:tr h="6629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操作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写法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生成新数组的方式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添加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addTodo(text)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todos = [...todos, 新任务]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删除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removeTodo(id)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todos = todos.filter(t =&gt; t.id !== id)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切换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toggleTodo(id)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todos = todos.map(t =&gt; ...{ ...t, ... })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389120"/>
            <a:ext cx="5532120" cy="1874519"/>
          </a:xfrm>
          <a:prstGeom prst="roundRect">
            <a:avLst>
              <a:gd name="adj" fmla="val 3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❌ 就地修改（本周不采用）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todos.push(item);      // 添加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todos.splice(i, 1);    // 删除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t.completed = !t.completed;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直接改对象属性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72200" y="4389120"/>
            <a:ext cx="5532120" cy="1874519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✅ 生成新数组（本周要求）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todos = [...todos, item];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todos = todos.filter(t =&gt; t.id !== id);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切换：map + 展开，见参考实现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核心任务：补全三个函数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38" cy="2606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4206239"/>
                <a:gridCol w="3749039"/>
              </a:tblGrid>
              <a:tr h="5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函数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生成新数组的方式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三步口诀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addTodo(text)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展开 [...todos, 新任务]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 → save → render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removeTodo(id)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filter（留下不等于 id 的）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 → save → render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toggleTodo(id)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 + 展开（生成新对象）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 → save → render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跑通三个操作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浏览器手动测试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297680"/>
            <a:ext cx="11064240" cy="224028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709160"/>
            <a:ext cx="10607040" cy="1417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E822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新任务对象：{ id: Date.now(), text, completed: false }</a:t>
            </a:r>
            <a:endParaRPr sz="1800" b="1">
              <a:solidFill>
                <a:srgbClr val="EE822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切换时只改匹配的那一条，其余原样返回 t；三个函数都以 save(); render(); 结尾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3个操作完成后，再做reduce / 筛选样式</a:t>
            </a:r>
            <a:endParaRPr sz="18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参考实现（卡住很久，例如超过 5 分钟再看，默认不看）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10881360" cy="3977639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addTodo(text) {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todos = [...todos, { id: Date.now(), text, completed: false }];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save(); render();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removeTodo(id) {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todos = todos.filter(t =&gt; t.id !== id);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save(); render();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toggleTodo(id) {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todos = todos.map(t =&gt;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t.id === id ? { ...t, completed: !t.completed } : t);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save(); render();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5943600"/>
            <a:ext cx="11292840" cy="621792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要看就改绿字颜色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常见错误与对策（白字）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38" cy="4892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4297679"/>
                <a:gridCol w="4297679"/>
              </a:tblGrid>
              <a:tr h="6988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/>
                        <a:t>错误</a:t>
                      </a:r>
                      <a:endParaRPr sz="1800"/>
                    </a:p>
                  </a:txBody>
                  <a:tcPr marL="64008" marR="45720" marT="27432" marB="27432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/>
                        <a:t>表现</a:t>
                      </a:r>
                      <a:endParaRPr sz="1800"/>
                    </a:p>
                  </a:txBody>
                  <a:tcPr marL="64008" marR="45720" marT="27432" marB="27432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/>
                        <a:t>怎么改</a:t>
                      </a:r>
                      <a:endParaRPr sz="1800"/>
                    </a:p>
                  </a:txBody>
                  <a:tcPr marL="64008" marR="45720" marT="27432" marB="27432" anchor="ctr"/>
                </a:tc>
              </a:tr>
              <a:tr h="6988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用 push 添加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todos.push(...)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用 [...todos, 新任务] 生成新数组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</a:tr>
              <a:tr h="6988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用 splice 删除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todos.splice(i, 1)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用 filter 生成新数组（splice 是就地修改）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</a:tr>
              <a:tr h="6988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改完忘 save()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刷新后数据丢失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三步口诀第二步：保存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</a:tr>
              <a:tr h="6988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改完忘 render()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数据改了，页面不动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改了数据，谁负责让页面知道？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</a:tr>
              <a:tr h="6988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toggleTodo 直接改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t.completed = !t.completed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用展开运算符生成新对象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</a:tr>
              <a:tr h="69886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在 render() 外改 DOM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功能函数里出现 createElement / appendChild / innerHTML / removeChild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>
                          <a:solidFill>
                            <a:srgbClr val="EAE9F5"/>
                          </a:solidFill>
                        </a:rPr>
                        <a:t>DOM 操作集中在 render() 内</a:t>
                      </a:r>
                      <a:endParaRPr sz="1800">
                        <a:solidFill>
                          <a:srgbClr val="EAE9F5"/>
                        </a:solidFill>
                      </a:endParaRPr>
                    </a:p>
                  </a:txBody>
                  <a:tcPr marL="64008" marR="45720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自检：三个操作都跑通了吗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60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4572000"/>
                <a:gridCol w="4846320"/>
              </a:tblGrid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操作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怎么测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期望结果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添加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输入文本 + 点击「添加」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列表出现新项，输入框清空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删除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点击 ×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列表移除该项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切换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点击 li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 的 class 切换为 done（样式变化）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空输入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只输入空格后点添加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不添加任何项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环节④：筛选与持久化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5943600" cy="173736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setFilter(f)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filter = f;      // all / done / active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render();        // 不需要 save()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66560" y="1691640"/>
          <a:ext cx="4846318" cy="2651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4639"/>
                <a:gridCol w="2011679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期望结果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添加后刷新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数据仍在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删除后刷新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删除已生效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切换状态后刷新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状态已保存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切换筛选后刷新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回到 'all'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480560"/>
            <a:ext cx="10515600" cy="219455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任务状态 vs 视图状态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todos 是任务状态 → 需要 save()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filter 是视图状态 → 不需要 save()，刷新回到默认 'all'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筛选按钮可以直接用三个硬编码按钮，不必做 UI 美化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环节⑤：脱离 AI 小试验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10698480" cy="118872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接下来这环节，大概耗时 5 分钟，不要使用 AI 工具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2880360"/>
            <a:ext cx="1069848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999232"/>
            <a:ext cx="1024128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统一题目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removeTodo 旁边新增 clearCompleted()，实现「删除所有已完成任务」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不要求加按钮或绑事件；只要求函数体写对（手写代码），控制台调用后页面正确更新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小改参考答案与评价维度（绿字）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5943600" cy="160020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clearCompleted() {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todos = todos.filter(t =&gt; !t.completed);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save(); render();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chemeClr val="accent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66560" y="1691640"/>
          <a:ext cx="4846320" cy="1691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3017520"/>
              </a:tblGrid>
              <a:tr h="42291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功能正确性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调用后已完成项消失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数据流理解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filter → save → render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独立解释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改什么 / 为什么 / 如何验证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611880"/>
          <a:ext cx="11064239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9052559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等级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表现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功能正确 + 数据流对 + 能解释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部分通过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功能正确但数据流或解释有细微问题（如漏 save()）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不通过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功能不正确，或无法完成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852160"/>
            <a:ext cx="11292840" cy="64008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把参考答案绿字显示，对照（强调不要使用AI），然后把结果记录在AI日志中</a:t>
            </a:r>
            <a:endParaRPr sz="18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环节⑥：Git 分支与提交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7315200" cy="310896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branch --show-current          # ① 确认分支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switch feature/v2-data-driven  # ② 切到功能分支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status                         # ③ 看状态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add .                          # ④ 加入暂存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commit -m "feat: V2.0数据驱动重构"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switch main                    # ⑤ 回主分支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merge feature/v2-data-driven   # ⑥ 合并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log --oneline                  # ⑦ 看历史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92440" y="1737360"/>
            <a:ext cx="3611880" cy="3246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本周要求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完整版：≥ 3 次有意义的提交 + 有分支并且有合并回 main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提交信息前缀（可选）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feat: 新功能 / fix: 修 bug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refactor: 重构 / docs: 文档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5029200"/>
            <a:ext cx="11064240" cy="141732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49240"/>
            <a:ext cx="10607040" cy="8686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拆成三次提交的一种可能方式：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数据驱动重构（三个操作函数）  ② 筛选  ③ 持久化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环节⑦：完整版提交前自查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5440680" cy="3291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只有一个数据源？全局搜 todos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添加/删除/切换后页面立刻更新？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空输入拦住了？（输入空格测试）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三个操作都生成新数组？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 用了 var？请说明原因（新代码用 const/let）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63640" y="1508760"/>
            <a:ext cx="5440680" cy="32918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 有无未经说明的就地修改？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 持久化：刷新后数据还在？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 筛选：默认 all；三个都能工作？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 Git：≥3 次提交 + 用了分支 + 有合并？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 AI 日志 ≥ 2 条？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4892040"/>
            <a:ext cx="11064240" cy="160020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提交方式：提交更新的 AI 日志，里面包括 Git 仓库链接（可公开访问）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2"/>
  <p:tag name="KSO_WM_UNIT_ID" val="_1*y*2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3"/>
  <p:tag name="KSO_WM_UNIT_ID" val="_1*y*3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4"/>
  <p:tag name="KSO_WM_UNIT_ID" val="_1*y*4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2*i*3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2*i*4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3*i*2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3*i*3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3*i*4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4*i*1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4*i*4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5*i*1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5*i*4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6*i*4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7*i*4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8*i*7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8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8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SHOW_EDIT_AREA_INDICATION" val="0"/>
  <p:tag name="KSO_WM_TEMPLATE_THUMBS_INDEX" val="1、4、5、6、7、8、9、11、13"/>
  <p:tag name="KSO_WM_TEMPLATE_SUBCATEGORY" val="0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2548"/>
  <p:tag name="KSO_WM_TEMPLATE_MASTER_TYPE" val="1"/>
</p:tagLst>
</file>

<file path=ppt/tags/tag192.xml><?xml version="1.0" encoding="utf-8"?>
<p:tagLst xmlns:p="http://schemas.openxmlformats.org/presentationml/2006/main">
  <p:tag name="commondata" val="eyJoZGlkIjoiMmJjNjQ4Nzg3M2YyZjZkNGVhYWUxNjZmMjIyOWVhMG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5D53C4"/>
      </a:accent1>
      <a:accent2>
        <a:srgbClr val="815EC5"/>
      </a:accent2>
      <a:accent3>
        <a:srgbClr val="4B58C3"/>
      </a:accent3>
      <a:accent4>
        <a:srgbClr val="5697A8"/>
      </a:accent4>
      <a:accent5>
        <a:srgbClr val="54AD9D"/>
      </a:accent5>
      <a:accent6>
        <a:srgbClr val="53C495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6607</Words>
  <Application>WPS 演示</Application>
  <PresentationFormat>宽屏</PresentationFormat>
  <Paragraphs>516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汉仪旗黑-85S</vt:lpstr>
      <vt:lpstr>黑体</vt:lpstr>
      <vt:lpstr>隶书</vt:lpstr>
      <vt:lpstr>Viner Hand ITC</vt:lpstr>
      <vt:lpstr>Consolas</vt:lpstr>
      <vt:lpstr>Arial Unicode MS</vt:lpstr>
      <vt:lpstr>Calibri</vt:lpstr>
      <vt:lpstr>Mongolian Baiti</vt:lpstr>
      <vt:lpstr>WPS</vt:lpstr>
      <vt:lpstr>1_Office 主题​​</vt:lpstr>
      <vt:lpstr>Web编程</vt:lpstr>
      <vt:lpstr>今天实验课：做什么</vt:lpstr>
      <vt:lpstr>开始重构之前：先建好分支</vt:lpstr>
      <vt:lpstr>对比：第6周做法 → 本周做法</vt:lpstr>
      <vt:lpstr>本周核心内容</vt:lpstr>
      <vt:lpstr>三项交付物与验收标准</vt:lpstr>
      <vt:lpstr>reduce示例</vt:lpstr>
      <vt:lpstr>代码骨架：① - ⑤</vt:lpstr>
      <vt:lpstr>代码骨架：⑥ render() 上 —— 过滤 → 建元素</vt:lpstr>
      <vt:lpstr>代码骨架：⑥ render() 下 —— 事件绑定 → 挂载</vt:lpstr>
      <vt:lpstr>动手前：记住三个要点</vt:lpstr>
      <vt:lpstr>统一原则：不改原数组，生成新数组</vt:lpstr>
      <vt:lpstr>核心任务：补全三个函数</vt:lpstr>
      <vt:lpstr>参考实现（卡住很久，例如超过 5 分钟再看，默认不看）</vt:lpstr>
      <vt:lpstr>常见错误与对策（白字）</vt:lpstr>
      <vt:lpstr>自检：三个操作都跑通了吗</vt:lpstr>
      <vt:lpstr>环节④：筛选与持久化</vt:lpstr>
      <vt:lpstr>环节⑤：脱离 AI 小试验</vt:lpstr>
      <vt:lpstr>小改参考答案与评价维度（绿字）</vt:lpstr>
      <vt:lpstr>环节⑥：Git 分支与提交</vt:lpstr>
      <vt:lpstr>环节⑦：完整版提交前自查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Hawk Cai</dc:creator>
  <cp:lastModifiedBy>蔡树彬</cp:lastModifiedBy>
  <cp:revision>146</cp:revision>
  <dcterms:created xsi:type="dcterms:W3CDTF">2023-08-09T12:44:00Z</dcterms:created>
  <dcterms:modified xsi:type="dcterms:W3CDTF">2026-10-12T23:48:45Z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2052-12.1.0.29161</vt:lpwstr>
  </property>
</Properties>
</file>